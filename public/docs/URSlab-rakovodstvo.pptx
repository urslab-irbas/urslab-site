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8100474c-4782-c65a-562d-38513c919ebd}">
          <p14:sldIdLst>
            <p14:sldId id="256"/>
            <p14:sldId id="257"/>
          </p14:sldIdLst>
        </p14:section>
        <p14:section name="Сайтът" id="{c689567c-8e20-fb92-bea9-2b982434c6d8}">
          <p14:sldIdLst>
            <p14:sldId id="258"/>
            <p14:sldId id="259"/>
          </p14:sldIdLst>
        </p14:section>
        <p14:section name="Изследвания" id="{a1d40387-ac95-21c4-702c-3173033658b5}">
          <p14:sldIdLst>
            <p14:sldId id="260"/>
            <p14:sldId id="261"/>
            <p14:sldId id="262"/>
          </p14:sldIdLst>
        </p14:section>
        <p14:section name="Публикации" id="{6b918491-3179-8e71-aa86-f50def9e527c}">
          <p14:sldIdLst>
            <p14:sldId id="263"/>
            <p14:sldId id="264"/>
            <p14:sldId id="265"/>
          </p14:sldIdLst>
        </p14:section>
        <p14:section name="Състав" id="{d1787245-1fd0-db2b-f44c-a2bca37530f0}">
          <p14:sldIdLst>
            <p14:sldId id="266"/>
            <p14:sldId id="267"/>
            <p14:sldId id="268"/>
            <p14:sldId id="269"/>
          </p14:sldIdLst>
        </p14:section>
        <p14:section name="Нова публикация" id="{d3d90aa8-ca0b-3fd3-76b5-83a7ae8e2d6a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Обновяване" id="{a9068507-997d-f72e-fbc0-39e62458a772}">
          <p14:sldIdLst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Презентацията е за обучение на нов потребител. Отделете около 20 минути; препоръчително е да разглеждате сайта паралелно.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Всяка страница съществува и на двата езика. Съдържанието се поддържа в src/data/ — не в самите страници.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Направлението на публикацията се определя от темите, които отбелязвате при въвеждане.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Обобщението е предназначено за отчети пред ръководството на института. Резултатът зависи от избраните филтри.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Б1–Б4 (октомври 2026): предложен показател по списъците на Scopus/WoS, научно рецензиране по НРС на НАЦИД, „Точки НАЦИД“ по имейл (PDF), писма само при нужда. Подробно — „Помощ: цитирания“ (PDF) в „Обобщен отчет“.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URSlab · Ръководство за нов потребител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Сайтът на URSlab — ръководство за нов потребител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urs.ir.bas.bg · Лаборатория „Безпилотни роботизирани системи“, Институт по роботика – БАН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Как да ползвате сайта, как да въведете нова публикация и как сайтът се обновява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Съдържание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441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1454810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5272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Какво има в сайта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Меню, двата езика, начална страница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663440" y="114300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962" y="1454810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532120" y="125272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Изследвания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Направления, броячи, модел на Кумер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224028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2552090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235000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Публикации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Филтри, годишни страници, отчет, CSV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663440" y="224028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962" y="2552090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32120" y="235000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Състав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Карти, „Обобщен отчет“, цитирания, „Точки НАЦИД“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457200" y="333756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40080" y="3538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" y="3649370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25880" y="344728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 Нова публикация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Форма, APA стил, проверка, GitHub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4663440" y="333756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4846320" y="3538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962" y="3649370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532120" y="344728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6. Обновяване на сайта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Pull Request → Merge → публикуване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Какво има в сайта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Статичен двуезичен сайт: български на urs.ir.bas.bg, английски на /en/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Начална страница и меню</a:t>
            </a:r>
            <a:endParaRPr lang="en-US" sz="2600" dirty="0"/>
          </a:p>
        </p:txBody>
      </p:sp>
      <p:sp>
        <p:nvSpPr>
          <p:cNvPr id="3" name="Начална страница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Начална страница" descr="Начална страни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Меню: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Начало, Изследвания, Състав, Проекти, Публикации, Услуги, Контакти.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Език: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бутонът „English“ горе вдясно води до същата страница на английски.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Живият модел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началната страница показва идеята за плавен завой по клотоида.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Статистика: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посещенията се броят без бисквитки (GoatCounter).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Изследвания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Шест научни направления, свързани с публикациите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Научни направления</a:t>
            </a:r>
            <a:endParaRPr lang="en-US" sz="2600" dirty="0"/>
          </a:p>
        </p:txBody>
      </p:sp>
      <p:sp>
        <p:nvSpPr>
          <p:cNvPr id="3" name="Изследвания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Изследвания" descr="Изследван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Всяка карта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показва колко публикации има в направлението.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Броят се обновява сам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при всяка нова публикация, въведена от колектива.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Клик върху картата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отваря всички публикации на направлението с филтри и отчет.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„Автономна навигация“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води към страницата с уникалния модел и приносите.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Модел на Кумер („Автономна навигация“)</a:t>
            </a:r>
            <a:endParaRPr lang="en-US" sz="2600" dirty="0"/>
          </a:p>
        </p:txBody>
      </p:sp>
      <p:sp>
        <p:nvSpPr>
          <p:cNvPr id="3" name="Модел на Кумер frame"/>
          <p:cNvSpPr/>
          <p:nvPr/>
        </p:nvSpPr>
        <p:spPr>
          <a:xfrm>
            <a:off x="457200" y="1051560"/>
            <a:ext cx="3931920" cy="3557451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Модел на Кумер" descr="Модел на Куме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931920" cy="355745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663440" y="1097280"/>
            <a:ext cx="4069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Изчислява се на живо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 браузъра по уравненията от статията.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Плъзгачи: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скорост W (до 150 m/s) и максимален крен γmax (от 28°).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Изберете завой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картата или в таблицата — вижда се увеличение с точките b₁ и b₂.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Графики: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пътен ъгъл и странично ускорение, сравнени с класическия завой.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Над модела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са научните и научно-приложните приноси на статията.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Публикации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Текущ списък, годишни страници и обобщение за отчет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Страница „Публикации“</a:t>
            </a:r>
            <a:endParaRPr lang="en-US" sz="2600" dirty="0"/>
          </a:p>
        </p:txBody>
      </p:sp>
      <p:sp>
        <p:nvSpPr>
          <p:cNvPr id="3" name="Публикации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Публикации" descr="Публикаци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Филтри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„По направление“ и „По тема“ — показват само съответните публикации.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Заглавието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е връзка към публикацията (DOI), ако има такава.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„Архив“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 края на страницата: годишни страници 2026, 2025, 2022 – 2024 и до 2021 г.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Всяка публикация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е на страницата за годината си.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Годишни страници и обобщение за отчет</a:t>
            </a:r>
            <a:endParaRPr lang="en-US" sz="2600" dirty="0"/>
          </a:p>
        </p:txBody>
      </p:sp>
      <p:sp>
        <p:nvSpPr>
          <p:cNvPr id="3" name="Обобщение за отчет frame"/>
          <p:cNvSpPr/>
          <p:nvPr/>
        </p:nvSpPr>
        <p:spPr>
          <a:xfrm>
            <a:off x="2271252" y="1051560"/>
            <a:ext cx="4601497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Обобщение за отчет" descr="Обобщение за отче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1252" y="1051560"/>
            <a:ext cx="4601497" cy="1783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331012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53" y="3406689"/>
            <a:ext cx="245791" cy="24579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Филтри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направление, тема, индексиране/квартил, година, автор — комбинират се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4612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410712" y="3310128"/>
            <a:ext cx="438912" cy="43891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273" y="3406689"/>
            <a:ext cx="245791" cy="24579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97764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Обобщение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41071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брой, WoS/Scopus, квартили, Σ SJR, Σ IF, DOI, дял ИР — за избраното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03504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199632" y="331012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193" y="3406689"/>
            <a:ext cx="245791" cy="24579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6656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CSV и печат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19963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„Изтегли CSV“ отваря се в Excel; „Печат“ — без менюто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Състав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Карта на всеки потребител, обобщен отчет, цитирания и „Точки НАЦИД“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Картата на потребителя</a:t>
            </a:r>
            <a:endParaRPr lang="en-US" sz="2600" dirty="0"/>
          </a:p>
        </p:txBody>
      </p:sp>
      <p:sp>
        <p:nvSpPr>
          <p:cNvPr id="3" name="Карта на потребителя frame"/>
          <p:cNvSpPr/>
          <p:nvPr/>
        </p:nvSpPr>
        <p:spPr>
          <a:xfrm>
            <a:off x="457200" y="1051560"/>
            <a:ext cx="3291840" cy="34747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Карта на потребителя" descr="Карта на потреби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291840" cy="3474720"/>
          </a:xfrm>
          <a:prstGeom prst="rect">
            <a:avLst/>
          </a:prstGeom>
        </p:spPr>
      </p:pic>
      <p:sp>
        <p:nvSpPr>
          <p:cNvPr id="5" name="badge 1"/>
          <p:cNvSpPr/>
          <p:nvPr/>
        </p:nvSpPr>
        <p:spPr>
          <a:xfrm>
            <a:off x="411480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11480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1430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Звание, име, роля и научни интереси</a:t>
            </a:r>
            <a:endParaRPr lang="en-US" sz="1350" dirty="0"/>
          </a:p>
        </p:txBody>
      </p:sp>
      <p:sp>
        <p:nvSpPr>
          <p:cNvPr id="8" name="badge 2"/>
          <p:cNvSpPr/>
          <p:nvPr/>
        </p:nvSpPr>
        <p:spPr>
          <a:xfrm>
            <a:off x="4114800" y="20116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19659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„Обобщен отчет“ — всички публикации на човека от целия сайт</a:t>
            </a:r>
            <a:endParaRPr lang="en-US" sz="1350" dirty="0"/>
          </a:p>
        </p:txBody>
      </p:sp>
      <p:sp>
        <p:nvSpPr>
          <p:cNvPr id="11" name="badge 3"/>
          <p:cNvSpPr/>
          <p:nvPr/>
        </p:nvSpPr>
        <p:spPr>
          <a:xfrm>
            <a:off x="4114800" y="28346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„+ Нова публикация“ и цитирания — само за потребители с GitHub акаунт</a:t>
            </a:r>
            <a:endParaRPr lang="en-US" sz="1350" dirty="0"/>
          </a:p>
        </p:txBody>
      </p:sp>
      <p:sp>
        <p:nvSpPr>
          <p:cNvPr id="14" name="badge 4"/>
          <p:cNvSpPr/>
          <p:nvPr/>
        </p:nvSpPr>
        <p:spPr>
          <a:xfrm>
            <a:off x="4114800" y="3657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36118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ORCID, Google Scholar / ResearchGate, имейл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41148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5"/>
                </a:solidFill>
              </a:rPr>
              <a:t>Профилът си редактирате във файла src/data/team/&lt;фамилия&gt;.ts — вижте CONTRIBUTING.md.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Обобщен отчет на потребителя</a:t>
            </a:r>
            <a:endParaRPr lang="en-US" sz="2600" dirty="0"/>
          </a:p>
        </p:txBody>
      </p:sp>
      <p:sp>
        <p:nvSpPr>
          <p:cNvPr id="3" name="Обобщен отчет frame"/>
          <p:cNvSpPr/>
          <p:nvPr/>
        </p:nvSpPr>
        <p:spPr>
          <a:xfrm>
            <a:off x="460858" y="1051560"/>
            <a:ext cx="4564685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Обобщен отчет" descr="Обобщен отче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858" y="1051560"/>
            <a:ext cx="4564685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03520" y="1097280"/>
            <a:ext cx="3429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Всички публикации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човека от целия сайт, без повторения (по DOI или заглавие).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Филтър „Съавтор“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показва общите публикации с колега.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Цитирания X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— точките по НАЦИД под годината на всяка публикация и сборът в обобщението. Въвеждане и търсене — „Помощ: цитирания“ (за потребителите с акаунт).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CSV и печат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— готово за годишния отчет.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Липсва публикация?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Въведете я през формата — отчетът се обновява сам.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Цитирания, „Точки НАЦИД“ и писма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434" y="139080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Търсене на цитирания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9659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Веднъж месечно и с бутона „Търси нови цитирания“ (около 20–25 мин.), вкл. списанията на БАН. Всяко цитиране е проверено; показателят се предлага по списъците на Scopus и WoS. Потвърждавате с една отметка.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6120" y="109728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10712" y="12801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354" y="1390802"/>
            <a:ext cx="281635" cy="28163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336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„Таблица по имейл“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10712" y="19659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Точките по Минималните национални изисквания, стратегия за следващата длъжност и справка от регистъра на НАЦИД — PDF само до вас и ръководителя, до 2–3 минути. На сайта няма числа.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35040" y="109728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99632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274" y="1390802"/>
            <a:ext cx="281635" cy="28163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1228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Писма само при нужда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199632" y="19659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Писмо идва за поискана информация или когато трябва да действате (отказ, грешка). При успех — без писмо: резултатът е в текста на заявката.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Нова публикация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От формата на сайта до публикуването — пет стъпки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Целият път на една нова публикация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14400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375258"/>
            <a:ext cx="358445" cy="358445"/>
          </a:xfrm>
          <a:prstGeom prst="rect">
            <a:avLst/>
          </a:prstGeom>
        </p:spPr>
      </p:pic>
      <p:sp>
        <p:nvSpPr>
          <p:cNvPr id="5" name="badge 1"/>
          <p:cNvSpPr/>
          <p:nvPr/>
        </p:nvSpPr>
        <p:spPr>
          <a:xfrm>
            <a:off x="804672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719072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Попълване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Състав → вашата карта → „+ Нова публикация“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96896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14" y="1375258"/>
            <a:ext cx="358445" cy="358445"/>
          </a:xfrm>
          <a:prstGeom prst="rect">
            <a:avLst/>
          </a:prstGeom>
        </p:spPr>
      </p:pic>
      <p:sp>
        <p:nvSpPr>
          <p:cNvPr id="12" name="badge 2"/>
          <p:cNvSpPr/>
          <p:nvPr/>
        </p:nvSpPr>
        <p:spPr>
          <a:xfrm>
            <a:off x="2487168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87168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401568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13969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Запиши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139696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проверка във формата; грешките са в червено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279392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0210" y="1375258"/>
            <a:ext cx="358445" cy="358445"/>
          </a:xfrm>
          <a:prstGeom prst="rect">
            <a:avLst/>
          </a:prstGeom>
        </p:spPr>
      </p:pic>
      <p:sp>
        <p:nvSpPr>
          <p:cNvPr id="19" name="badge 3"/>
          <p:cNvSpPr/>
          <p:nvPr/>
        </p:nvSpPr>
        <p:spPr>
          <a:xfrm>
            <a:off x="4169664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169664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84064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82219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GitHub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822192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вход с вашия акаунт → зелен бутон „Create“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961888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2706" y="1375258"/>
            <a:ext cx="358445" cy="358445"/>
          </a:xfrm>
          <a:prstGeom prst="rect">
            <a:avLst/>
          </a:prstGeom>
        </p:spPr>
      </p:pic>
      <p:sp>
        <p:nvSpPr>
          <p:cNvPr id="26" name="badge 4"/>
          <p:cNvSpPr/>
          <p:nvPr/>
        </p:nvSpPr>
        <p:spPr>
          <a:xfrm>
            <a:off x="5852160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0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6766560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50468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Проверка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5504688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DOI / ISSN / ISBN в регистрите: ✅ или ❌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644384" y="1234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5202" y="1375258"/>
            <a:ext cx="358445" cy="358445"/>
          </a:xfrm>
          <a:prstGeom prst="rect">
            <a:avLst/>
          </a:prstGeom>
        </p:spPr>
      </p:pic>
      <p:sp>
        <p:nvSpPr>
          <p:cNvPr id="33" name="badge 5"/>
          <p:cNvSpPr/>
          <p:nvPr/>
        </p:nvSpPr>
        <p:spPr>
          <a:xfrm>
            <a:off x="7534656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534656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718718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На сайта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7187184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автоматично, до около минута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457200" y="342900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85800" y="3730752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501" y="3851453"/>
            <a:ext cx="307238" cy="307238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417320" y="3520440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Защо GitHub?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Сайтът няма собствен вход и не пази пароли. Самоличността се проверява от GitHub: заявка се приема само от акаунта на потребителя (или на ръководителя). Хранилището е публично — за статии под рецензия въвеждайте само резюме, никога пълен текст.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Формата: полета и подсказки</a:t>
            </a:r>
            <a:endParaRPr lang="en-US" sz="2600" dirty="0"/>
          </a:p>
        </p:txBody>
      </p:sp>
      <p:sp>
        <p:nvSpPr>
          <p:cNvPr id="3" name="Формата frame"/>
          <p:cNvSpPr/>
          <p:nvPr/>
        </p:nvSpPr>
        <p:spPr>
          <a:xfrm>
            <a:off x="457200" y="1051560"/>
            <a:ext cx="4206240" cy="3441469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Формата" descr="Форма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206240" cy="3441469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051560"/>
          <a:ext cx="37947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517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Поле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Какво се въвежда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Автори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APA: „Фамилия, И.“, запетаи, „&amp;“ преди последния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Година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година на публикуване → годишната страница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Заглавие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точно както е публикувано, без точка накрая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Състояние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публикувана / под печат / подадена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Категория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Q1–Q4, SJR…; непубликувана → „Подадени“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Списание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пълно име; за книги — „Издател“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Том, брой, стр.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само числата; „45–67“ или № на статия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DOI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напр. 10.3390/… — проверява се в doi.org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ISSN / ISBN **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без DOI: вид + номер; проверява се в регистрите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SJR / IF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задължително за Q1–Q4 и „SJR без квартил“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Теми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поне една — свързват с направленията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Авторите в APA стил</a:t>
            </a:r>
            <a:endParaRPr lang="en-US" sz="2600" dirty="0"/>
          </a:p>
        </p:txBody>
      </p:sp>
      <p:sp>
        <p:nvSpPr>
          <p:cNvPr id="3" name="badge 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155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Всеки автор: фамилия, запетая, инициали с точка.</a:t>
            </a:r>
            <a:endParaRPr lang="en-US" sz="1350" dirty="0"/>
          </a:p>
        </p:txBody>
      </p:sp>
      <p:sp>
        <p:nvSpPr>
          <p:cNvPr id="6" name="badge 2"/>
          <p:cNvSpPr/>
          <p:nvPr/>
        </p:nvSpPr>
        <p:spPr>
          <a:xfrm>
            <a:off x="457200" y="1783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55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Авторите се разделят със запетая.</a:t>
            </a:r>
            <a:endParaRPr lang="en-US" sz="1350" dirty="0"/>
          </a:p>
        </p:txBody>
      </p:sp>
      <p:sp>
        <p:nvSpPr>
          <p:cNvPr id="9" name="badge 3"/>
          <p:cNvSpPr/>
          <p:nvPr/>
        </p:nvSpPr>
        <p:spPr>
          <a:xfrm>
            <a:off x="457200" y="2423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3957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Преди последния автор: „&amp;“ (запетая пред него при 3+ автори).</a:t>
            </a:r>
            <a:endParaRPr lang="en-US" sz="1350" dirty="0"/>
          </a:p>
        </p:txBody>
      </p:sp>
      <p:sp>
        <p:nvSpPr>
          <p:cNvPr id="12" name="badge 4"/>
          <p:cNvSpPr/>
          <p:nvPr/>
        </p:nvSpPr>
        <p:spPr>
          <a:xfrm>
            <a:off x="457200" y="3063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035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Редът е като в статията; без „et al.“</a:t>
            </a:r>
            <a:endParaRPr lang="en-US" sz="1350" dirty="0"/>
          </a:p>
        </p:txBody>
      </p:sp>
      <p:sp>
        <p:nvSpPr>
          <p:cNvPr id="15" name="badge 5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675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Частиците остават малки: „del Estad Herrero, A.“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846320" y="1051560"/>
            <a:ext cx="3840480" cy="3520440"/>
          </a:xfrm>
          <a:prstGeom prst="roundRect">
            <a:avLst>
              <a:gd name="adj" fmla="val 20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7492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Примери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1600200"/>
            <a:ext cx="3474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Madzharov, A.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Gaidarski, I., &amp; Madzharov, A.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Madzharov, A., Hristozov, S., &amp; Gaidarski, I.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Чехларова, Н., &amp; Чехларова, К.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 A., Hristozov S.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 Madzharov, S. Hristozov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Проверка във формата: грешка и успех</a:t>
            </a:r>
            <a:endParaRPr lang="en-US" sz="2600" dirty="0"/>
          </a:p>
        </p:txBody>
      </p:sp>
      <p:sp>
        <p:nvSpPr>
          <p:cNvPr id="3" name="Грешки frame"/>
          <p:cNvSpPr/>
          <p:nvPr/>
        </p:nvSpPr>
        <p:spPr>
          <a:xfrm>
            <a:off x="624840" y="1051560"/>
            <a:ext cx="36880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Грешки" descr="Греш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840" y="1051560"/>
            <a:ext cx="3688080" cy="3017520"/>
          </a:xfrm>
          <a:prstGeom prst="rect">
            <a:avLst/>
          </a:prstGeom>
        </p:spPr>
      </p:pic>
      <p:sp>
        <p:nvSpPr>
          <p:cNvPr id="5" name="Успех frame"/>
          <p:cNvSpPr/>
          <p:nvPr/>
        </p:nvSpPr>
        <p:spPr>
          <a:xfrm>
            <a:off x="4831080" y="1051560"/>
            <a:ext cx="36880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6" name="Успех" descr="Успе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1051560"/>
            <a:ext cx="3688080" cy="301752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224528"/>
            <a:ext cx="292608" cy="29260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41248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Грешните полета се оцветяват в червено с обяснение. Поправете и натиснете „Запиши“ отново.</a:t>
            </a:r>
            <a:endParaRPr lang="en-US" sz="11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224528"/>
            <a:ext cx="292608" cy="29260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047488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Прегледът в APA стил е готов; GitHub се отваря в нов прозорец с готова заявка.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В GitHub: заявка, проверка, публикуване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216152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09728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Create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697480" y="109728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Влезте със своя акаунт и натиснете зеления бутон „Create“. Не променяйте текста на заявката.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98424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2103120"/>
            <a:ext cx="512064" cy="51206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1284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25880" y="1984248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Приета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697480" y="1984248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DOI, ISSN или ISBN е намерен в регистрите (doi.org, Crossref, НАЦИД НРС, ISSN Portal, Open Library) — публикацията излиза на сайта сама.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871216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1792" y="2990088"/>
            <a:ext cx="512064" cy="51206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99816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2871216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Грешка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2697480" y="287121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Грешка или номер, който не е в регистрите — списък и връзка „Поправете във формата“ (данните са попълнени). Поправете и „Запиши“ отново.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57200" y="3758184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1792" y="3877056"/>
            <a:ext cx="512064" cy="51206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8678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25880" y="3758184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Контрол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2697480" y="3758184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Всяко публикуване е в дневник; при успех няма писмо — резултатът е в текста на заявката. Ръководителят може да го върне с една отметка „Върни“.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Обновяване на сайта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Merge в main = сайтът се обновява сам за около минута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Как и кога се обновява сайтът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97280" y="1783080"/>
            <a:ext cx="694944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Merge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ръководителят одобрява Pull Request-а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27832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27832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79192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Build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GitHub изгражда сайта (≈ 30 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41264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41264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992624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Deploy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качване на urs.ir.bas.bg (≈ 30 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54696" y="1463040"/>
            <a:ext cx="640080" cy="64008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54696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306056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Готово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06056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Ctrl+F5 в браузъра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547872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Къде се появява новата публикация: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на годишната страница (Публикации → Архив), в „Обобщен отчет“ на всеки съавтор и в броя на научните направления.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Не виждате промяната?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Натиснете Ctrl+F5 или отворете страницата в прозорец „инкогнито“.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Помощ и полезни връзки</a:t>
            </a:r>
            <a:endParaRPr lang="en-US" sz="2600" dirty="0"/>
          </a:p>
        </p:txBody>
      </p:sp>
      <p:sp>
        <p:nvSpPr>
          <p:cNvPr id="3" name="Помощ във формата frame"/>
          <p:cNvSpPr/>
          <p:nvPr/>
        </p:nvSpPr>
        <p:spPr>
          <a:xfrm>
            <a:off x="457200" y="1051560"/>
            <a:ext cx="4023360" cy="329184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Помощ във формата" descr="Помощ във форма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754880" y="1097280"/>
            <a:ext cx="3977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Помощ във формата: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бутон „Помощ“ — APA, проверки, обновяване. Цитирания: „Помощ: цитирания“ в „Обобщен отчет“ (потребителите с акаунт).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Форма: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urs.ir.bas.bg/publications/new/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Заявки в GitHub: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github.com/urslab-irbas/urslab-site/issues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Инструкция за редакция на профила: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CONTRIBUTING.md в хранилището.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Въпроси: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ръководителят на лабораторията — доц. д-р инж. А. Маджаров.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Добре дошли в URSlab!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Първа стъпка: отворете „Състав“, намерете вашата карта и разгледайте своя „Обобщен отчет“.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RSlab">
  <a:themeElements>
    <a:clrScheme name="URSlab">
      <a:dk1>
        <a:srgbClr val="0B1622"/>
      </a:dk1>
      <a:lt1>
        <a:srgbClr val="FFFFFF"/>
      </a:lt1>
      <a:dk2>
        <a:srgbClr val="13243A"/>
      </a:dk2>
      <a:lt2>
        <a:srgbClr val="F3F5F7"/>
      </a:lt2>
      <a:accent1>
        <a:srgbClr val="E0892B"/>
      </a:accent1>
      <a:accent2>
        <a:srgbClr val="5FB3D9"/>
      </a:accent2>
      <a:accent3>
        <a:srgbClr val="2E7D4F"/>
      </a:accent3>
      <a:accent4>
        <a:srgbClr val="C0392B"/>
      </a:accent4>
      <a:accent5>
        <a:srgbClr val="9A5410"/>
      </a:accent5>
      <a:accent6>
        <a:srgbClr val="8EA3B6"/>
      </a:accent6>
      <a:hlink>
        <a:srgbClr val="9A5410"/>
      </a:hlink>
      <a:folHlink>
        <a:srgbClr val="6B3A0B"/>
      </a:folHlink>
    </a:clrScheme>
    <a:fontScheme name="URS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Институт по роботика – БАН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Сайтът на URSlab — ръководство за нов потребител</dc:title>
  <dc:subject>PptxGenJS Presentation</dc:subject>
  <dc:creator>URSlab, ИР–БАН</dc:creator>
  <cp:lastModifiedBy>URSlab, ИР–БАН</cp:lastModifiedBy>
  <cp:revision>1</cp:revision>
  <dcterms:created xsi:type="dcterms:W3CDTF">2026-10-27T18:29:31Z</dcterms:created>
  <dcterms:modified xsi:type="dcterms:W3CDTF">2026-10-27T18:29:31Z</dcterms:modified>
</cp:coreProperties>
</file>